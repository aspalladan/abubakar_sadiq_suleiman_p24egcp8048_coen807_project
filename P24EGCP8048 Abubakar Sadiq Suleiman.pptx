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9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 R²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Linear</c:v>
                </c:pt>
                <c:pt idx="1">
                  <c:v>Ridge</c:v>
                </c:pt>
                <c:pt idx="2">
                  <c:v>Lasso</c:v>
                </c:pt>
                <c:pt idx="3">
                  <c:v>Random Forest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0.48699999999999999</c:v>
                </c:pt>
                <c:pt idx="1">
                  <c:v>0.48699999999999999</c:v>
                </c:pt>
                <c:pt idx="2">
                  <c:v>0</c:v>
                </c:pt>
                <c:pt idx="3">
                  <c:v>0.91500000000000004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FD-4108-8B42-33B1A9056D1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R²</c:v>
                </c:pt>
              </c:strCache>
            </c:strRef>
          </c:tx>
          <c:spPr>
            <a:solidFill>
              <a:srgbClr val="C8932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Linear</c:v>
                </c:pt>
                <c:pt idx="1">
                  <c:v>Ridge</c:v>
                </c:pt>
                <c:pt idx="2">
                  <c:v>Lasso</c:v>
                </c:pt>
                <c:pt idx="3">
                  <c:v>Random Forest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0.41699999999999998</c:v>
                </c:pt>
                <c:pt idx="1">
                  <c:v>0.41699999999999998</c:v>
                </c:pt>
                <c:pt idx="2">
                  <c:v>-2.9999999999999997E-4</c:v>
                </c:pt>
                <c:pt idx="3">
                  <c:v>0.35499999999999998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3FD-4108-8B42-33B1A9056D1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-0.1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646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486400" cy="5486400"/>
          </a:xfrm>
          <a:prstGeom prst="ellipse">
            <a:avLst/>
          </a:prstGeom>
          <a:solidFill>
            <a:srgbClr val="263A7A"/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389120"/>
            <a:ext cx="4572000" cy="4572000"/>
          </a:xfrm>
          <a:prstGeom prst="ellipse">
            <a:avLst/>
          </a:prstGeom>
          <a:solidFill>
            <a:srgbClr val="263A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48640"/>
            <a:ext cx="777240" cy="777240"/>
          </a:xfrm>
          <a:prstGeom prst="ellipse">
            <a:avLst/>
          </a:prstGeom>
          <a:solidFill>
            <a:srgbClr val="2E3F8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" y="750722"/>
            <a:ext cx="373075" cy="3730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554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COEN807 TERM PROJECT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Learning-Based Sales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Forecasting for Retail Outlets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48640" y="37033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Study of Regression Models on the BigMart Sales Dataset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4434840"/>
            <a:ext cx="9052560" cy="13777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Abubakar Sadiq Suleiman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Engineering, Ahmadu Bello University, </a:t>
            </a:r>
            <a:r>
              <a:rPr lang="en-US" sz="1300" dirty="0" smtClean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Zaria</a:t>
            </a:r>
          </a:p>
          <a:p>
            <a:r>
              <a:rPr lang="en-US" sz="1300" dirty="0" err="1" smtClean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Github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 Repository :https://github.com/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aspalladan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cs typeface="Calibri" pitchFamily="34" charset="-120"/>
              </a:rPr>
              <a:t>/Abubakar_Sadiq_Suleiman_P24EGCP8048_COEN807_Project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Sales Forecasting Matters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6400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businesses lose revenue when demand forecasts are wrong </a:t>
            </a:r>
            <a:r>
              <a:rPr lang="en-US" sz="1600" dirty="0" smtClean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either direction.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6400800" cy="91440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45059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Stock-outs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Under-forecasting leads to missed sales and lost customers.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6400800" cy="91440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35478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Overstock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38862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Over-forecasting ties up capital in unsold inventory.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6400800" cy="914400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464515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4983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depend on many interacting factors — price, category, store size, location.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1417320"/>
            <a:ext cx="4206240" cy="457200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26680" y="1737360"/>
            <a:ext cx="640080" cy="640080"/>
          </a:xfrm>
          <a:prstGeom prst="ellipse">
            <a:avLst/>
          </a:prstGeom>
          <a:solidFill>
            <a:srgbClr val="2E3F82"/>
          </a:solidFill>
          <a:ln/>
        </p:spPr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3101" y="1903781"/>
            <a:ext cx="307238" cy="30723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635240" y="2514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Goal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635240" y="297180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Formulate retail sales forecasting as a supervised regression problem and rigorously compare multiple ML algorithms to identify which generalises best — not just which fits best.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635240" y="49377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variable: Item_Outlet_Sales (continuous)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Set Out to 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18105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&amp; Preprocess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and clean a real-world retail dataset suitable for regression.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55448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69480" y="18105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Features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423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categorical variables and engineer Outlet_Age for both linear and tree-based models.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1148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3040" y="40965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Algorithms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and compare 9 regression algorithms under one common protocol.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55080" y="384048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629400" y="41148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69480" y="40965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Rigorously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29400" y="4709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MAE, RMSE, R², and cross-validation to judge real generalisation.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DESCRIPTION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BigMart Sales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1E2761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737360"/>
            <a:ext cx="594360" cy="594360"/>
          </a:xfrm>
          <a:prstGeom prst="ellipse">
            <a:avLst/>
          </a:prstGeom>
          <a:solidFill>
            <a:srgbClr val="2E3F8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214" y="18918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1051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Kaggle (Yasser H.)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8680" y="2560320"/>
            <a:ext cx="2194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8,523</a:t>
            </a:r>
            <a:endParaRPr lang="en-US" sz="30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records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3108960" y="25603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5,681</a:t>
            </a:r>
            <a:endParaRPr lang="en-US" sz="30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unlabeled test records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36576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0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features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3108960" y="365760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target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868680" y="47091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dataset?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5029200"/>
            <a:ext cx="4480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business problem • mix of continuous &amp; categorical features • tractable size for comparing 9 algorithms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463040"/>
          <a:ext cx="5669280" cy="4498848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Item_Weight, Item_MRP, Item_Visibility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Item_Fat_Content, Outlet_Location_Type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 (ordinal)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Item_Type, Outlet_Size, Outlet_Type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Categorical (nominal)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Outlet_Establishment_Year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98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Item_Outlet_Sales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(continuous)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PREPROCESSING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Cleaning, Encoding &amp; Feature Engineering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474720" cy="2240280"/>
          </a:xfrm>
          <a:prstGeom prst="roundRect">
            <a:avLst>
              <a:gd name="adj" fmla="val 3265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186811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377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772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Item_Weight imputed with mean; Outlet_Size imputed with mode.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508760"/>
            <a:ext cx="3474720" cy="2240280"/>
          </a:xfrm>
          <a:prstGeom prst="roundRect">
            <a:avLst>
              <a:gd name="adj" fmla="val 3265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34840" y="1737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599" y="1868119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34840" y="2377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Treatment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4348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IQR-based detection + Winsorization on Item_Visibility (caps, doesn't discard).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863840" y="1508760"/>
            <a:ext cx="3474720" cy="2240280"/>
          </a:xfrm>
          <a:prstGeom prst="roundRect">
            <a:avLst>
              <a:gd name="adj" fmla="val 3265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92440" y="1737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3199" y="1868119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92440" y="2377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092440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Outlet_Age from Outlet_Establishment_Year (ref. year 2023).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474720" cy="2240280"/>
          </a:xfrm>
          <a:prstGeom prst="roundRect">
            <a:avLst>
              <a:gd name="adj" fmla="val 3265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420624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99" y="4336999"/>
            <a:ext cx="241402" cy="24140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77240" y="48463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Columns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77240" y="52120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Item_Identifier, Outlet_Identifier, Outlet_Establishment_Year (no generalisable signal).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206240" y="3977640"/>
            <a:ext cx="3474720" cy="2240280"/>
          </a:xfrm>
          <a:prstGeom prst="roundRect">
            <a:avLst>
              <a:gd name="adj" fmla="val 3265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34840" y="420624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599" y="4336999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434840" y="48463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434840" y="52120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Encoding (ordinal) + One-Hot Encoding with first-category drop (nominal).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7863840" y="3977640"/>
            <a:ext cx="3474720" cy="2240280"/>
          </a:xfrm>
          <a:prstGeom prst="roundRect">
            <a:avLst>
              <a:gd name="adj" fmla="val 3265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092440" y="420624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3199" y="4336999"/>
            <a:ext cx="241402" cy="24140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092440" y="484632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092440" y="521208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applied to continuous features and target.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Regression Algorithms, Three Families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54480"/>
            <a:ext cx="3611880" cy="7772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5544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Models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200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55448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34840" y="1554480"/>
            <a:ext cx="3611880" cy="7772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5544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Instance-Based &amp; Trees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514600"/>
            <a:ext cx="3200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321040" y="155448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0" y="1554480"/>
            <a:ext cx="3611880" cy="777240"/>
          </a:xfrm>
          <a:prstGeom prst="rect">
            <a:avLst/>
          </a:prstGeom>
          <a:solidFill>
            <a:srgbClr val="8A5A1C"/>
          </a:solidFill>
          <a:ln/>
        </p:spPr>
      </p:sp>
      <p:sp>
        <p:nvSpPr>
          <p:cNvPr id="14" name="Text 12"/>
          <p:cNvSpPr/>
          <p:nvPr/>
        </p:nvSpPr>
        <p:spPr>
          <a:xfrm>
            <a:off x="8549640" y="15544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549640" y="2514600"/>
            <a:ext cx="3200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CatBoost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spread? Contrasting interpretable low-variance models against high-capacity ensembles directly tests whether added complexity improves real generalisation.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Split, Validation &amp; Evaluation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212080" cy="2011680"/>
          </a:xfrm>
          <a:prstGeom prst="roundRect">
            <a:avLst>
              <a:gd name="adj" fmla="val 4545"/>
            </a:avLst>
          </a:prstGeom>
          <a:solidFill>
            <a:srgbClr val="1E2761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20 Train-Test Split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5-fold cross-validation on the training set for a more robust generalisation estimate.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880360"/>
            <a:ext cx="3657600" cy="365760"/>
          </a:xfrm>
          <a:prstGeom prst="rect">
            <a:avLst/>
          </a:prstGeom>
          <a:solidFill>
            <a:srgbClr val="C8932B"/>
          </a:solidFill>
          <a:ln/>
        </p:spPr>
      </p:sp>
      <p:sp>
        <p:nvSpPr>
          <p:cNvPr id="8" name="Shape 6"/>
          <p:cNvSpPr/>
          <p:nvPr/>
        </p:nvSpPr>
        <p:spPr>
          <a:xfrm>
            <a:off x="4480560" y="2880360"/>
            <a:ext cx="914400" cy="3657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880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80560" y="2880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Test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5040" y="1463040"/>
            <a:ext cx="5577840" cy="1078992"/>
          </a:xfrm>
          <a:prstGeom prst="roundRect">
            <a:avLst>
              <a:gd name="adj" fmla="val 6780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63640" y="153619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error magnitude, in original sales units; robust to outliers.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2670048"/>
            <a:ext cx="5577840" cy="1078992"/>
          </a:xfrm>
          <a:prstGeom prst="roundRect">
            <a:avLst>
              <a:gd name="adj" fmla="val 6780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63640" y="27432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/ MSE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63640" y="3081528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Penalises larger errors more — large misses are costlier in retail.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3877056"/>
            <a:ext cx="5577840" cy="1078992"/>
          </a:xfrm>
          <a:prstGeom prst="roundRect">
            <a:avLst>
              <a:gd name="adj" fmla="val 6780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63640" y="3950208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(Train vs Test)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263640" y="4288536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both sets specifically to expose overfitting.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35040" y="5084064"/>
            <a:ext cx="5577840" cy="1078992"/>
          </a:xfrm>
          <a:prstGeom prst="roundRect">
            <a:avLst>
              <a:gd name="adj" fmla="val 6780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63640" y="5157216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CV-RMSE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263640" y="5495544"/>
            <a:ext cx="5120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average; reduces dependence on one lucky/unlucky split.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vs. Test R² Across Models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64922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269480" y="1417320"/>
            <a:ext cx="4343400" cy="4480560"/>
          </a:xfrm>
          <a:prstGeom prst="roundRect">
            <a:avLst>
              <a:gd name="adj" fmla="val 2105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98080" y="16002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Read-Outs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498080" y="2103120"/>
            <a:ext cx="393192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/ Ridge → 0.417 test R²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consistent train−test gap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9C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→ 0.915 train, 0.355 test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gap observed — overfitting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9C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→ ~0 R² on both sets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alpha over-penalised coefficients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 ≠ Generalisation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73352"/>
            <a:ext cx="594360" cy="594360"/>
          </a:xfrm>
          <a:prstGeom prst="ellipse">
            <a:avLst/>
          </a:prstGeom>
          <a:solidFill>
            <a:srgbClr val="2E3F8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4" y="1827886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673352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fit is not a reliable proxy for real-world usefulness — the simplest models generalised best.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548640" y="2788920"/>
            <a:ext cx="274320" cy="274320"/>
          </a:xfrm>
          <a:prstGeom prst="ellipse">
            <a:avLst/>
          </a:prstGeom>
          <a:solidFill>
            <a:srgbClr val="C8932B"/>
          </a:solidFill>
          <a:ln/>
        </p:spPr>
      </p:sp>
      <p:sp>
        <p:nvSpPr>
          <p:cNvPr id="9" name="Text 6"/>
          <p:cNvSpPr/>
          <p:nvPr/>
        </p:nvSpPr>
        <p:spPr>
          <a:xfrm>
            <a:off x="1051560" y="26974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before trusting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1051560" y="306324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Forest's overfitting reflects default hyperparameters — max_depth, min_samples_leaf, and n_estimators all need tuning before production use.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749040"/>
            <a:ext cx="274320" cy="274320"/>
          </a:xfrm>
          <a:prstGeom prst="ellipse">
            <a:avLst/>
          </a:prstGeom>
          <a:solidFill>
            <a:srgbClr val="C8932B"/>
          </a:solidFill>
          <a:ln/>
        </p:spPr>
      </p:sp>
      <p:sp>
        <p:nvSpPr>
          <p:cNvPr id="12" name="Text 9"/>
          <p:cNvSpPr/>
          <p:nvPr/>
        </p:nvSpPr>
        <p:spPr>
          <a:xfrm>
            <a:off x="1051560" y="36576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 isn't “safe by default”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051560" y="4023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Lasso's collapse shows alpha must be cross-validated (e.g. LassoCV), not left at the library default.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4709160"/>
            <a:ext cx="274320" cy="274320"/>
          </a:xfrm>
          <a:prstGeom prst="ellipse">
            <a:avLst/>
          </a:prstGeom>
          <a:solidFill>
            <a:srgbClr val="C8932B"/>
          </a:solidFill>
          <a:ln/>
        </p:spPr>
      </p:sp>
      <p:sp>
        <p:nvSpPr>
          <p:cNvPr id="15" name="Text 12"/>
          <p:cNvSpPr/>
          <p:nvPr/>
        </p:nvSpPr>
        <p:spPr>
          <a:xfrm>
            <a:off x="1051560" y="46177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Multicollinearity is limited here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051560" y="498348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≈ Linear Regression suggests the L2 penalty had little to correct in this encoded feature set.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ETHICS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Study Doesn't Cover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4480560"/>
          </a:xfrm>
          <a:prstGeom prst="roundRect">
            <a:avLst>
              <a:gd name="adj" fmla="val 2041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7830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51460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hyperparameter tuning applied yet to ensemble/regularised models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excludes promotions, seasonality, competitor pricing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may not transfer to other retail markets or geographies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55080" y="1463040"/>
            <a:ext cx="5440680" cy="4480560"/>
          </a:xfrm>
          <a:prstGeom prst="roundRect">
            <a:avLst>
              <a:gd name="adj" fmla="val 2041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173736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04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17830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&amp; Ethical Concerns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720840" y="2514600"/>
            <a:ext cx="47548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imbalance (e.g. Seafood, High-size outlets under-represented)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is not Nigeria-specific — no claim of local representativeness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an overfit model without disclosing the train−test gap risks overconfident business decisions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Lessons Learned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64792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2002536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16459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higher training score ≠ a better model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965960" y="2103120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Train−test R² gap is itself a headline result, not an appendix footnote.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3136392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3392424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630168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327355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hyperparameters are a starting point, not a conclusion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965960" y="3730752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model heading toward deployment needs systematic tuning.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4764024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F7F8FB"/>
          </a:solidFill>
          <a:ln/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5020056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" y="5257800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901184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choices change the comparison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965960" y="5358384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 method, Winsorization thresholds, and encoding scheme all affect downstream results — document precisely for reproducibility.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61288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C"/>
                </a:solidFill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389120"/>
            <a:ext cx="4572000" cy="4572000"/>
          </a:xfrm>
          <a:prstGeom prst="ellipse">
            <a:avLst/>
          </a:prstGeom>
          <a:solidFill>
            <a:srgbClr val="263A7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8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Work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rigorous, multi-model comparison — not training performance alone — is what makes a forecasting pipeline trustworthy.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457200" cy="457200"/>
          </a:xfrm>
          <a:prstGeom prst="ellipse">
            <a:avLst/>
          </a:prstGeom>
          <a:solidFill>
            <a:srgbClr val="C8932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468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Hyperparameter-tune Random Forest, XGBoost, CatBoost &amp; AdaBoost (GridSearchCV / RandomizedSearchCV)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C893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246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Lasso's regularisation strength via LassoCV instead of a default alpha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457200" cy="457200"/>
          </a:xfrm>
          <a:prstGeom prst="ellipse">
            <a:avLst/>
          </a:prstGeom>
          <a:solidFill>
            <a:srgbClr val="C8932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promotions, seasonality &amp; regional demand indicators to raise the achievable R² ceiling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800600"/>
            <a:ext cx="457200" cy="457200"/>
          </a:xfrm>
          <a:prstGeom prst="ellipse">
            <a:avLst/>
          </a:prstGeom>
          <a:solidFill>
            <a:srgbClr val="C8932B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</a:t>
            </a:r>
            <a:r>
              <a:rPr lang="en-US" sz="14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transferability, including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locally sourced Nigerian retail data </a:t>
            </a:r>
            <a:r>
              <a:rPr lang="en-US" sz="14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before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6126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3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894</Words>
  <Application>Microsoft Office PowerPoint</Application>
  <PresentationFormat>Widescreen</PresentationFormat>
  <Paragraphs>172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Learning-Based Sales Forecasting (BigMart Sales Dataset)</dc:title>
  <dc:subject>PptxGenJS Presentation</dc:subject>
  <dc:creator>Abubakar</dc:creator>
  <cp:lastModifiedBy>Abubakar Sadiq</cp:lastModifiedBy>
  <cp:revision>3</cp:revision>
  <dcterms:created xsi:type="dcterms:W3CDTF">2026-06-21T18:24:19Z</dcterms:created>
  <dcterms:modified xsi:type="dcterms:W3CDTF">2026-06-21T21:06:14Z</dcterms:modified>
</cp:coreProperties>
</file>