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R²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Ridge</c:v>
                </c:pt>
                <c:pt idx="2">
                  <c:v>Lasso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0.48699999999999999</c:v>
                </c:pt>
                <c:pt idx="1">
                  <c:v>0.48699999999999999</c:v>
                </c:pt>
                <c:pt idx="2">
                  <c:v>0</c:v>
                </c:pt>
                <c:pt idx="3">
                  <c:v>0.91500000000000004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FD-4108-8B42-33B1A9056D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C8932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Ridge</c:v>
                </c:pt>
                <c:pt idx="2">
                  <c:v>Lasso</c:v>
                </c:pt>
                <c:pt idx="3">
                  <c:v>Random Forest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0.41699999999999998</c:v>
                </c:pt>
                <c:pt idx="1">
                  <c:v>0.41699999999999998</c:v>
                </c:pt>
                <c:pt idx="2">
                  <c:v>-2.9999999999999997E-4</c:v>
                </c:pt>
                <c:pt idx="3">
                  <c:v>0.35499999999999998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FD-4108-8B42-33B1A9056D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64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63A7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263A7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2E3F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507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COEN807 TERM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Learning-Based Sales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for Retail Outlets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Regression Models on the BigMart Sales Dataset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5806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Sadiq Suleiman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Ahmadu Bello University, Zaria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Sales Forecasting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lose revenue when demand forecasts are wrong </a:t>
            </a:r>
            <a:r>
              <a:rPr lang="en-US" sz="16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either direction.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05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Under-forecasting leads to missed sales and lost customers.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5478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Over-forecasting ties up capital in unsold inventory.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6451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depend on many interacting factors — price, category, store size, location.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1417320"/>
            <a:ext cx="4206240" cy="457200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26680" y="1737360"/>
            <a:ext cx="640080" cy="640080"/>
          </a:xfrm>
          <a:prstGeom prst="ellipse">
            <a:avLst/>
          </a:prstGeom>
          <a:solidFill>
            <a:srgbClr val="2E3F82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101" y="19037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3524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35240" y="2971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retail sales forecasting as a supervised regression problem and rigorously compare multiple ML algorithms to identify which generalises best — not just which fits best.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635240" y="4937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Item_Outlet_Sales (continuous)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Preprocess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clean a real-world retail dataset suitable for regression.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variables and engineer Outlet_Age for both linear and tree-based models.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096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Algorithms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compare 9 regression algorithms under one common protocol.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840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096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709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MAE, RMSE, R², and cross-validation to judge real generalisation.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BigMart Sales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94360" cy="594360"/>
          </a:xfrm>
          <a:prstGeom prst="ellipse">
            <a:avLst/>
          </a:prstGeom>
          <a:solidFill>
            <a:srgbClr val="2E3F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18918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0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(Yasser H.)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8,523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108960" y="2560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5,681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test records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68680" y="3657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10896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target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68680" y="4709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50292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problem • mix of continuous &amp; categorical features • tractable size for comparing 9 algorithms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63040"/>
          <a:ext cx="5669280" cy="449884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Item_Weight, Item_MRP, Item_Visibility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Item_Fat_Content, Outlet_Location_Type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(ordinal)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Item_Type, Outlet_Size, Outlet_Type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(nominal)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Outlet_Establishment_Year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Item_Outlet_Sales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(continuous)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Cleaning, Encoding &amp; 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Item_Weight imputed with mean; Outlet_Size imputed with mode.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150876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737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599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34840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detection + Winsorization on Item_Visibility (caps, doesn't discard).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63840" y="150876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92440" y="1737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199" y="18681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92440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Outlet_Age from Outlet_Establishment_Year (ref. year 2023).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3369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46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Columns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Item_Identifier, Outlet_Identifier, Outlet_Establishment_Year (no generalisable signal).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06240" y="397764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34840" y="4206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599" y="43369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4846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3484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(ordinal) + One-Hot Encoding with first-category drop (nominal).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863840" y="397764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92440" y="4206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199" y="43369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92440" y="4846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09244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continuous features and target.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Regression Algorithms, Three Families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554480"/>
            <a:ext cx="361188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5544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&amp; Trees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5544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554480"/>
            <a:ext cx="3611880" cy="777240"/>
          </a:xfrm>
          <a:prstGeom prst="rect">
            <a:avLst/>
          </a:prstGeom>
          <a:solidFill>
            <a:srgbClr val="8A5A1C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15544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spread? Contrasting interpretable low-variance models against high-capacity ensembles directly tests whether added complexity improves real generalisation.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Split, Validation &amp; Evaluation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Train-Test Split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5-fold cross-validation on the training set for a more robust generalisation estimate.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3657600" cy="36576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2880360"/>
            <a:ext cx="91440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2880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5577840" cy="1078992"/>
          </a:xfrm>
          <a:prstGeom prst="roundRect">
            <a:avLst>
              <a:gd name="adj" fmla="val 6780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5361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magnitude, in original sales units; robust to outliers.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670048"/>
            <a:ext cx="5577840" cy="1078992"/>
          </a:xfrm>
          <a:prstGeom prst="roundRect">
            <a:avLst>
              <a:gd name="adj" fmla="val 6780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MSE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63640" y="308152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larger errors more — large misses are costlier in retail.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3877056"/>
            <a:ext cx="5577840" cy="1078992"/>
          </a:xfrm>
          <a:prstGeom prst="roundRect">
            <a:avLst>
              <a:gd name="adj" fmla="val 6780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39502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(Train vs Test)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63640" y="428853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both sets specifically to expose overfitting.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5084064"/>
            <a:ext cx="5577840" cy="1078992"/>
          </a:xfrm>
          <a:prstGeom prst="roundRect">
            <a:avLst>
              <a:gd name="adj" fmla="val 6780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515721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CV-RMSE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549554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average; reduces dependence on one lucky/unlucky split.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vs. Test R² Across Models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492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417320"/>
            <a:ext cx="4343400" cy="4480560"/>
          </a:xfrm>
          <a:prstGeom prst="roundRect">
            <a:avLst>
              <a:gd name="adj" fmla="val 2105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Read-Outs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21031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 → 0.417 test R²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consistent train−test gap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→ 0.915 train, 0.355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observed — overfitting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→ ~0 R² on both 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alpha over-penalised coefficients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≠ Generalisation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3352"/>
            <a:ext cx="594360" cy="594360"/>
          </a:xfrm>
          <a:prstGeom prst="ellipse">
            <a:avLst/>
          </a:prstGeom>
          <a:solidFill>
            <a:srgbClr val="2E3F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8278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7335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fit is not a reliable proxy for real-world usefulness — the simplest models generalised best.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274320" cy="274320"/>
          </a:xfrm>
          <a:prstGeom prst="ellipse">
            <a:avLst/>
          </a:prstGeom>
          <a:solidFill>
            <a:srgbClr val="C8932B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697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before trusting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51560" y="30632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Forest's overfitting reflects default hyperparameters — max_depth, min_samples_leaf, and n_estimators all need tuning before production use.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274320" cy="274320"/>
          </a:xfrm>
          <a:prstGeom prst="ellipse">
            <a:avLst/>
          </a:prstGeom>
          <a:solidFill>
            <a:srgbClr val="C8932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657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isn't “safe by default”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51560" y="40233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Lasso's collapse shows alpha must be cross-validated (e.g. LassoCV), not left at the library default.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709160"/>
            <a:ext cx="274320" cy="274320"/>
          </a:xfrm>
          <a:prstGeom prst="ellipse">
            <a:avLst/>
          </a:prstGeom>
          <a:solidFill>
            <a:srgbClr val="C8932B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617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is limited here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051560" y="49834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≈ Linear Regression suggests the L2 penalty had little to correct in this encoded feature set.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ETHICS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Doesn't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tuning applied yet to ensemble/regularised models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excludes promotions, seasonality, competitor pricing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may not transfer to other retail markets or geographies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4630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7373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Ethical Concerns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20840" y="25146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imbalance (e.g. Seafood, High-size outlets under-represented)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not Nigeria-specific — no claim of local representativeness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an overfit model without disclosing the train−test gap risks overconfident business decisions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64792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00253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459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training score ≠ a better model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10312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Train−test R² gap is itself a headline result, not an appendix footnote.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36392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392424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63016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27355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hyperparameters are a starting point, not a conclusion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965960" y="3730752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heading toward deployment needs systematic tuning.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764024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7F8FB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020056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525780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90118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choices change the comparison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358384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method, Winsorization thresholds, and encoding scheme all affect downstream results — document precisely for reproducibility.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263A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rigorous, multi-model comparison — not training performance alone — is what makes a forecasting pipeline trustworthy.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C893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Hyperparameter-tune Random Forest, XGBoost, CatBoost &amp; AdaBoost (GridSearchCV / RandomizedSearchCV)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C893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Lasso's regularisation strength via LassoCV instead of a default alpha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C893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promotions, seasonality &amp; regional demand indicators to raise the achievable R² ceiling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C893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transferability, including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locally sourced Nigerian retail data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888</Words>
  <Application>Microsoft Office PowerPoint</Application>
  <PresentationFormat>Widescreen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Learning-Based Sales Forecasting (BigMart Sales Dataset)</dc:title>
  <dc:subject>PptxGenJS Presentation</dc:subject>
  <dc:creator>Abubakar</dc:creator>
  <cp:lastModifiedBy>Abubakar Sadiq</cp:lastModifiedBy>
  <cp:revision>2</cp:revision>
  <dcterms:created xsi:type="dcterms:W3CDTF">2026-06-21T18:24:19Z</dcterms:created>
  <dcterms:modified xsi:type="dcterms:W3CDTF">2026-06-21T20:21:33Z</dcterms:modified>
</cp:coreProperties>
</file>